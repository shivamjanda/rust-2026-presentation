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h46067e3cb066642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h46067e3cb066642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46067e3cb06664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h46067e3cb066642d_0_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h46067e3cb066642d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h46067e3cb066642d_0_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46067e3cb066642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h46067e3cb066642d_0_3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46067e3cb066642d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h46067e3cb066642d_0_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46067e3cb066642d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h46067e3cb066642d_0_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398c9f15236e7f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h1398c9f15236e7fa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658368" y="822960"/>
            <a:ext cx="91440" cy="36576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005840" y="1005840"/>
            <a:ext cx="886968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FROM EXPERIMENT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3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TO STANDARD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005840" y="3035808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RUST IN 2026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024128" y="4261104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— Software Development Current Event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024128" y="5148072"/>
            <a:ext cx="10058400" cy="5303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Aayan Bhandari  •  Ali Fallahtafti  •  Shivam Janda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01  /  RUST IN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-12" y="4045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C : Fast and Risky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1042415" y="206654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Very fast </a:t>
            </a:r>
            <a:endParaRPr/>
          </a:p>
        </p:txBody>
      </p:sp>
      <p:sp>
        <p:nvSpPr>
          <p:cNvPr id="102" name="Google Shape;102;p14"/>
          <p:cNvSpPr/>
          <p:nvPr/>
        </p:nvSpPr>
        <p:spPr>
          <a:xfrm>
            <a:off x="758952" y="3236976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1042415" y="3127248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Manage memory yourself </a:t>
            </a:r>
            <a:endParaRPr/>
          </a:p>
        </p:txBody>
      </p:sp>
      <p:sp>
        <p:nvSpPr>
          <p:cNvPr id="104" name="Google Shape;104;p14"/>
          <p:cNvSpPr/>
          <p:nvPr/>
        </p:nvSpPr>
        <p:spPr>
          <a:xfrm>
            <a:off x="758952" y="4315968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1042415" y="4206240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Mistakes causes crashes and security holes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804672" y="576072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C: Speed with Manual Mmeory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Java and Python (Safe but Slower)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16" name="Google Shape;116;p15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5"/>
          <p:cNvSpPr txBox="1"/>
          <p:nvPr/>
        </p:nvSpPr>
        <p:spPr>
          <a:xfrm>
            <a:off x="1042415" y="206654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Memory is cleaned up automatically</a:t>
            </a:r>
            <a:endParaRPr/>
          </a:p>
        </p:txBody>
      </p:sp>
      <p:sp>
        <p:nvSpPr>
          <p:cNvPr id="118" name="Google Shape;118;p15"/>
          <p:cNvSpPr/>
          <p:nvPr/>
        </p:nvSpPr>
        <p:spPr>
          <a:xfrm>
            <a:off x="758952" y="3236976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5"/>
          <p:cNvSpPr txBox="1"/>
          <p:nvPr/>
        </p:nvSpPr>
        <p:spPr>
          <a:xfrm>
            <a:off x="1042415" y="3127248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Extra </a:t>
            </a:r>
            <a:r>
              <a:rPr lang="en-US" sz="2200">
                <a:solidFill>
                  <a:srgbClr val="F6F7FA"/>
                </a:solidFill>
              </a:rPr>
              <a:t>memory usage</a:t>
            </a:r>
            <a:endParaRPr/>
          </a:p>
        </p:txBody>
      </p:sp>
      <p:sp>
        <p:nvSpPr>
          <p:cNvPr id="120" name="Google Shape;120;p15"/>
          <p:cNvSpPr/>
          <p:nvPr/>
        </p:nvSpPr>
        <p:spPr>
          <a:xfrm>
            <a:off x="758952" y="4315968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 txBox="1"/>
          <p:nvPr/>
        </p:nvSpPr>
        <p:spPr>
          <a:xfrm>
            <a:off x="1042415" y="4206240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Sporadic pauses and slower speed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4672" y="576072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Garbage Collection: </a:t>
            </a: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at a cost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6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6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Trade Off and Rust’s Reply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784447" y="6063995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or Speed? Why not Both?</a:t>
            </a:r>
            <a:endParaRPr/>
          </a:p>
        </p:txBody>
      </p:sp>
      <p:pic>
        <p:nvPicPr>
          <p:cNvPr id="133" name="Google Shape;13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74700" y="1748300"/>
            <a:ext cx="7401851" cy="3712751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How Does Rust Do it?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03  /  RUST IN 2026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1051560" y="2039112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2880360" y="2011680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support entered the Linux kernel.</a:t>
            </a:r>
            <a:endParaRPr/>
          </a:p>
        </p:txBody>
      </p:sp>
      <p:sp>
        <p:nvSpPr>
          <p:cNvPr id="145" name="Google Shape;145;p17"/>
          <p:cNvSpPr/>
          <p:nvPr/>
        </p:nvSpPr>
        <p:spPr>
          <a:xfrm>
            <a:off x="1060704" y="292608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 txBox="1"/>
          <p:nvPr/>
        </p:nvSpPr>
        <p:spPr>
          <a:xfrm>
            <a:off x="1051560" y="3328416"/>
            <a:ext cx="2011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5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Dec 2025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2880360" y="3310128"/>
            <a:ext cx="8138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Linux maintainers said Rust was no longer experimental.</a:t>
            </a:r>
            <a:endParaRPr/>
          </a:p>
        </p:txBody>
      </p:sp>
      <p:sp>
        <p:nvSpPr>
          <p:cNvPr id="148" name="Google Shape;148;p17"/>
          <p:cNvSpPr/>
          <p:nvPr/>
        </p:nvSpPr>
        <p:spPr>
          <a:xfrm>
            <a:off x="1060704" y="434340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1051560" y="4754880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814797" y="6102895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No Garbage Collector? Then What?</a:t>
            </a:r>
            <a:endParaRPr/>
          </a:p>
        </p:txBody>
      </p:sp>
      <p:pic>
        <p:nvPicPr>
          <p:cNvPr id="151" name="Google Shape;15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9474" y="1797875"/>
            <a:ext cx="10413574" cy="396285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8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Why Memory </a:t>
            </a:r>
            <a:r>
              <a:rPr b="1" lang="en-US" sz="3100">
                <a:solidFill>
                  <a:srgbClr val="F6F7FA"/>
                </a:solidFill>
              </a:rPr>
              <a:t>Safety</a:t>
            </a:r>
            <a:r>
              <a:rPr b="1" lang="en-US" sz="3100">
                <a:solidFill>
                  <a:srgbClr val="F6F7FA"/>
                </a:solidFill>
              </a:rPr>
              <a:t> Matters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02  /  RUST IN 2026</a:t>
            </a:r>
            <a:endParaRPr/>
          </a:p>
        </p:txBody>
      </p:sp>
      <p:sp>
        <p:nvSpPr>
          <p:cNvPr id="161" name="Google Shape;161;p18"/>
          <p:cNvSpPr/>
          <p:nvPr/>
        </p:nvSpPr>
        <p:spPr>
          <a:xfrm>
            <a:off x="758952" y="2176272"/>
            <a:ext cx="100500" cy="1005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 txBox="1"/>
          <p:nvPr/>
        </p:nvSpPr>
        <p:spPr>
          <a:xfrm>
            <a:off x="1042415" y="2057181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F6F7FA"/>
                </a:solidFill>
              </a:rPr>
              <a:t>A program should only touch memory its allowed to.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758947" y="5922470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F08443"/>
                </a:solidFill>
              </a:rPr>
              <a:t>“Memory-</a:t>
            </a:r>
            <a:r>
              <a:rPr lang="en-US" sz="1700">
                <a:solidFill>
                  <a:srgbClr val="F08443"/>
                </a:solidFill>
              </a:rPr>
              <a:t>safety</a:t>
            </a:r>
            <a:r>
              <a:rPr lang="en-US" sz="1700">
                <a:solidFill>
                  <a:srgbClr val="F08443"/>
                </a:solidFill>
              </a:rPr>
              <a:t> bugs causes most security vulnerabilities (CVEs)” (Roy, 2024)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859440" y="1587093"/>
            <a:ext cx="10241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2200">
                <a:solidFill>
                  <a:srgbClr val="F6F7FA"/>
                </a:solidFill>
              </a:rPr>
              <a:t>What Happens When Memory </a:t>
            </a:r>
            <a:r>
              <a:rPr i="1" lang="en-US" sz="2200">
                <a:solidFill>
                  <a:srgbClr val="F6F7FA"/>
                </a:solidFill>
              </a:rPr>
              <a:t>Safety</a:t>
            </a:r>
            <a:r>
              <a:rPr i="1" lang="en-US" sz="2200">
                <a:solidFill>
                  <a:srgbClr val="F6F7FA"/>
                </a:solidFill>
              </a:rPr>
              <a:t> Breaks</a:t>
            </a:r>
            <a:endParaRPr i="1"/>
          </a:p>
        </p:txBody>
      </p:sp>
      <p:pic>
        <p:nvPicPr>
          <p:cNvPr id="165" name="Google Shape;165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8611" y="2626048"/>
            <a:ext cx="6810540" cy="2904499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9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9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73" name="Google Shape;173;p19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Ownership: 3 Simple Rules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03  /  RUST IN 2026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1051560" y="2039112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08443"/>
                </a:solidFill>
              </a:rPr>
              <a:t>1.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2880360" y="2011680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Every value has an </a:t>
            </a:r>
            <a:r>
              <a:rPr b="1" lang="en-US" sz="2100">
                <a:solidFill>
                  <a:srgbClr val="F6F7FA"/>
                </a:solidFill>
              </a:rPr>
              <a:t>owner</a:t>
            </a:r>
            <a:endParaRPr/>
          </a:p>
        </p:txBody>
      </p:sp>
      <p:sp>
        <p:nvSpPr>
          <p:cNvPr id="177" name="Google Shape;177;p19"/>
          <p:cNvSpPr/>
          <p:nvPr/>
        </p:nvSpPr>
        <p:spPr>
          <a:xfrm>
            <a:off x="1060704" y="292608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9"/>
          <p:cNvSpPr txBox="1"/>
          <p:nvPr/>
        </p:nvSpPr>
        <p:spPr>
          <a:xfrm>
            <a:off x="1051560" y="3328416"/>
            <a:ext cx="2011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rgbClr val="F08443"/>
                </a:solidFill>
              </a:rPr>
              <a:t>2.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2880360" y="3310128"/>
            <a:ext cx="8138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Only </a:t>
            </a:r>
            <a:r>
              <a:rPr b="1" lang="en-US" sz="2100">
                <a:solidFill>
                  <a:srgbClr val="F6F7FA"/>
                </a:solidFill>
              </a:rPr>
              <a:t>one owner</a:t>
            </a:r>
            <a:r>
              <a:rPr lang="en-US" sz="2100">
                <a:solidFill>
                  <a:srgbClr val="F6F7FA"/>
                </a:solidFill>
              </a:rPr>
              <a:t> at a time</a:t>
            </a:r>
            <a:endParaRPr/>
          </a:p>
        </p:txBody>
      </p:sp>
      <p:sp>
        <p:nvSpPr>
          <p:cNvPr id="180" name="Google Shape;180;p19"/>
          <p:cNvSpPr/>
          <p:nvPr/>
        </p:nvSpPr>
        <p:spPr>
          <a:xfrm>
            <a:off x="1060704" y="4343400"/>
            <a:ext cx="10058400" cy="22800"/>
          </a:xfrm>
          <a:prstGeom prst="rect">
            <a:avLst/>
          </a:prstGeom>
          <a:solidFill>
            <a:srgbClr val="BDC8D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1051560" y="4754880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08443"/>
                </a:solidFill>
              </a:rPr>
              <a:t>3.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2880360" y="4736592"/>
            <a:ext cx="8229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F6F7FA"/>
                </a:solidFill>
              </a:rPr>
              <a:t>When the owner goes </a:t>
            </a:r>
            <a:r>
              <a:rPr b="1" lang="en-US" sz="2100">
                <a:solidFill>
                  <a:srgbClr val="F6F7FA"/>
                </a:solidFill>
              </a:rPr>
              <a:t>out of scope</a:t>
            </a:r>
            <a:r>
              <a:rPr lang="en-US" sz="2100">
                <a:solidFill>
                  <a:srgbClr val="F6F7FA"/>
                </a:solidFill>
              </a:rPr>
              <a:t>, memory is freed automatically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0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190" name="Google Shape;190;p20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The Borrow Checker</a:t>
            </a:r>
            <a:endParaRPr/>
          </a:p>
        </p:txBody>
      </p:sp>
      <p:sp>
        <p:nvSpPr>
          <p:cNvPr id="191" name="Google Shape;191;p20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04  /  RUST IN 2026</a:t>
            </a:r>
            <a:endParaRPr/>
          </a:p>
        </p:txBody>
      </p:sp>
      <p:sp>
        <p:nvSpPr>
          <p:cNvPr id="192" name="Google Shape;192;p20"/>
          <p:cNvSpPr txBox="1"/>
          <p:nvPr/>
        </p:nvSpPr>
        <p:spPr>
          <a:xfrm>
            <a:off x="1123290" y="2412181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F6F7FA"/>
                </a:solidFill>
              </a:rPr>
              <a:t>Borrowing and use data without owning it </a:t>
            </a:r>
            <a:endParaRPr sz="1600"/>
          </a:p>
        </p:txBody>
      </p:sp>
      <p:sp>
        <p:nvSpPr>
          <p:cNvPr id="193" name="Google Shape;193;p20"/>
          <p:cNvSpPr/>
          <p:nvPr/>
        </p:nvSpPr>
        <p:spPr>
          <a:xfrm flipH="1" rot="10800000">
            <a:off x="849400" y="2250476"/>
            <a:ext cx="49800" cy="6774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 txBox="1"/>
          <p:nvPr/>
        </p:nvSpPr>
        <p:spPr>
          <a:xfrm>
            <a:off x="1042415" y="4177893"/>
            <a:ext cx="10241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rgbClr val="F6F7FA"/>
                </a:solidFill>
              </a:rPr>
              <a:t>Checked before the program runs, not during it.</a:t>
            </a:r>
            <a:endParaRPr sz="1600"/>
          </a:p>
        </p:txBody>
      </p:sp>
      <p:sp>
        <p:nvSpPr>
          <p:cNvPr id="195" name="Google Shape;195;p20"/>
          <p:cNvSpPr/>
          <p:nvPr/>
        </p:nvSpPr>
        <p:spPr>
          <a:xfrm flipH="1" rot="10800000">
            <a:off x="849400" y="4016201"/>
            <a:ext cx="49800" cy="6774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1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1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Where is Rust being </a:t>
            </a:r>
            <a:r>
              <a:rPr b="1" lang="en-US" sz="3100">
                <a:solidFill>
                  <a:srgbClr val="F6F7FA"/>
                </a:solidFill>
              </a:rPr>
              <a:t>U</a:t>
            </a: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sed?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05  /  RUST IN 2026</a:t>
            </a:r>
            <a:endParaRPr/>
          </a:p>
        </p:txBody>
      </p:sp>
      <p:sp>
        <p:nvSpPr>
          <p:cNvPr id="205" name="Google Shape;205;p21"/>
          <p:cNvSpPr/>
          <p:nvPr/>
        </p:nvSpPr>
        <p:spPr>
          <a:xfrm>
            <a:off x="749808" y="1938528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 txBox="1"/>
          <p:nvPr/>
        </p:nvSpPr>
        <p:spPr>
          <a:xfrm>
            <a:off x="950976" y="2093976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Linux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3547872" y="2057400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Developers can write some kernel components in Rust.</a:t>
            </a:r>
            <a:endParaRPr/>
          </a:p>
        </p:txBody>
      </p:sp>
      <p:sp>
        <p:nvSpPr>
          <p:cNvPr id="208" name="Google Shape;208;p21"/>
          <p:cNvSpPr/>
          <p:nvPr/>
        </p:nvSpPr>
        <p:spPr>
          <a:xfrm>
            <a:off x="749808" y="2962656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 txBox="1"/>
          <p:nvPr/>
        </p:nvSpPr>
        <p:spPr>
          <a:xfrm>
            <a:off x="950976" y="3118104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Google / Android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3547872" y="3081528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used in security-sensitive Android code.</a:t>
            </a:r>
            <a:endParaRPr/>
          </a:p>
        </p:txBody>
      </p:sp>
      <p:sp>
        <p:nvSpPr>
          <p:cNvPr id="211" name="Google Shape;211;p21"/>
          <p:cNvSpPr/>
          <p:nvPr/>
        </p:nvSpPr>
        <p:spPr>
          <a:xfrm>
            <a:off x="749808" y="3986784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950976" y="4142232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Microsoft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3547872" y="4105656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being explored and used in some systems work.</a:t>
            </a:r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749808" y="5010912"/>
            <a:ext cx="2514600" cy="73152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950976" y="5166360"/>
            <a:ext cx="2194560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08443"/>
                </a:solidFill>
                <a:latin typeface="Arial"/>
                <a:ea typeface="Arial"/>
                <a:cs typeface="Arial"/>
                <a:sym typeface="Arial"/>
              </a:rPr>
              <a:t>AWS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3547872" y="5129784"/>
            <a:ext cx="786384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powers projects such as Firecracker.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2"/>
          <p:cNvSpPr/>
          <p:nvPr/>
        </p:nvSpPr>
        <p:spPr>
          <a:xfrm>
            <a:off x="411480" y="393192"/>
            <a:ext cx="73152" cy="429768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22"/>
          <p:cNvSpPr txBox="1"/>
          <p:nvPr/>
        </p:nvSpPr>
        <p:spPr>
          <a:xfrm>
            <a:off x="612648" y="4114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24" name="Google Shape;224;p22"/>
          <p:cNvSpPr txBox="1"/>
          <p:nvPr/>
        </p:nvSpPr>
        <p:spPr>
          <a:xfrm>
            <a:off x="621792" y="9784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Challenges and </a:t>
            </a:r>
            <a:r>
              <a:rPr b="1" lang="en-US" sz="3100">
                <a:solidFill>
                  <a:srgbClr val="F6F7FA"/>
                </a:solidFill>
              </a:rPr>
              <a:t>F</a:t>
            </a: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inal </a:t>
            </a:r>
            <a:r>
              <a:rPr b="1" lang="en-US" sz="3100">
                <a:solidFill>
                  <a:srgbClr val="F6F7FA"/>
                </a:solidFill>
              </a:rPr>
              <a:t>T</a:t>
            </a:r>
            <a:r>
              <a:rPr b="1" i="0" lang="en-US" sz="3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houghts</a:t>
            </a:r>
            <a:endParaRPr/>
          </a:p>
        </p:txBody>
      </p:sp>
      <p:sp>
        <p:nvSpPr>
          <p:cNvPr id="225" name="Google Shape;225;p22"/>
          <p:cNvSpPr txBox="1"/>
          <p:nvPr/>
        </p:nvSpPr>
        <p:spPr>
          <a:xfrm>
            <a:off x="9875520" y="644652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06  /  RUST IN 2026</a:t>
            </a:r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758952" y="2103120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1042415" y="1993392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can be difficult to learn, especially ownership rules</a:t>
            </a:r>
            <a:endParaRPr/>
          </a:p>
        </p:txBody>
      </p:sp>
      <p:sp>
        <p:nvSpPr>
          <p:cNvPr id="228" name="Google Shape;228;p22"/>
          <p:cNvSpPr/>
          <p:nvPr/>
        </p:nvSpPr>
        <p:spPr>
          <a:xfrm>
            <a:off x="758952" y="3072384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1042415" y="2962656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Compiler checks can make development feel slower at first</a:t>
            </a:r>
            <a:endParaRPr/>
          </a:p>
        </p:txBody>
      </p:sp>
      <p:sp>
        <p:nvSpPr>
          <p:cNvPr id="230" name="Google Shape;230;p22"/>
          <p:cNvSpPr/>
          <p:nvPr/>
        </p:nvSpPr>
        <p:spPr>
          <a:xfrm>
            <a:off x="758952" y="4050791"/>
            <a:ext cx="100584" cy="100584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1042415" y="3941063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It will not replace every C or C++ program</a:t>
            </a:r>
            <a:endParaRPr/>
          </a:p>
        </p:txBody>
      </p:sp>
      <p:sp>
        <p:nvSpPr>
          <p:cNvPr id="232" name="Google Shape;232;p22"/>
          <p:cNvSpPr/>
          <p:nvPr/>
        </p:nvSpPr>
        <p:spPr>
          <a:xfrm>
            <a:off x="749808" y="5074920"/>
            <a:ext cx="10698480" cy="868680"/>
          </a:xfrm>
          <a:prstGeom prst="rect">
            <a:avLst/>
          </a:prstGeom>
          <a:solidFill>
            <a:srgbClr val="1D2B3F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1005840" y="5330952"/>
            <a:ext cx="10241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6F7FA"/>
                </a:solidFill>
                <a:latin typeface="Arial"/>
                <a:ea typeface="Arial"/>
                <a:cs typeface="Arial"/>
                <a:sym typeface="Arial"/>
              </a:rPr>
              <a:t>Rust is becoming a serious option for safer systems software.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11B2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3"/>
          <p:cNvSpPr/>
          <p:nvPr/>
        </p:nvSpPr>
        <p:spPr>
          <a:xfrm>
            <a:off x="411480" y="393192"/>
            <a:ext cx="73200" cy="429900"/>
          </a:xfrm>
          <a:prstGeom prst="rect">
            <a:avLst/>
          </a:prstGeom>
          <a:solidFill>
            <a:srgbClr val="F08443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3"/>
          <p:cNvSpPr txBox="1"/>
          <p:nvPr/>
        </p:nvSpPr>
        <p:spPr>
          <a:xfrm>
            <a:off x="612648" y="411480"/>
            <a:ext cx="73152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CEP146  /  SOFTWARE DEVELOPMENT CURRENT EVENT</a:t>
            </a:r>
            <a:endParaRPr/>
          </a:p>
        </p:txBody>
      </p:sp>
      <p:sp>
        <p:nvSpPr>
          <p:cNvPr id="241" name="Google Shape;241;p23"/>
          <p:cNvSpPr txBox="1"/>
          <p:nvPr/>
        </p:nvSpPr>
        <p:spPr>
          <a:xfrm>
            <a:off x="609442" y="2639108"/>
            <a:ext cx="10972800" cy="4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100">
                <a:solidFill>
                  <a:srgbClr val="F6F7FA"/>
                </a:solidFill>
              </a:rPr>
              <a:t>The End</a:t>
            </a:r>
            <a:endParaRPr/>
          </a:p>
        </p:txBody>
      </p:sp>
      <p:sp>
        <p:nvSpPr>
          <p:cNvPr id="242" name="Google Shape;242;p23"/>
          <p:cNvSpPr txBox="1"/>
          <p:nvPr/>
        </p:nvSpPr>
        <p:spPr>
          <a:xfrm>
            <a:off x="9875520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BDC8D6"/>
                </a:solidFill>
                <a:latin typeface="Arial"/>
                <a:ea typeface="Arial"/>
                <a:cs typeface="Arial"/>
                <a:sym typeface="Arial"/>
              </a:rPr>
              <a:t>04  /  RUST IN 2026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