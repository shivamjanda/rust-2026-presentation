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h46067e3cb066642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h46067e3cb066642d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h46067e3cb066642d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h46067e3cb066642d_0_1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h46067e3cb066642d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h46067e3cb066642d_0_4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h46067e3cb066642d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h46067e3cb066642d_0_3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h46067e3cb066642d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h46067e3cb066642d_0_6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h46067e3cb066642d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h46067e3cb066642d_0_8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658368" y="822960"/>
            <a:ext cx="91440" cy="36576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005840" y="1005840"/>
            <a:ext cx="886968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9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FROM EXPERIMENT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39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TO STANDARD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005840" y="3035808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08443"/>
                </a:solidFill>
                <a:latin typeface="Arial"/>
                <a:ea typeface="Arial"/>
                <a:cs typeface="Arial"/>
                <a:sym typeface="Arial"/>
              </a:rPr>
              <a:t>RUST IN 2026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024128" y="4261104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— Software Development Current Event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1024128" y="5148072"/>
            <a:ext cx="100584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Aayan Bhandari  •  Ali Fallahtafti  •  Shivam Janda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9875520" y="644652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01  /  RUST IN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-12" y="40450"/>
            <a:ext cx="12191700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411480" y="393192"/>
            <a:ext cx="73200" cy="4299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612648" y="411480"/>
            <a:ext cx="73152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 /  SOFTWARE DEVELOPMENT CURRENT EVENT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621792" y="978408"/>
            <a:ext cx="10972800" cy="4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rgbClr val="F6F7FA"/>
                </a:solidFill>
              </a:rPr>
              <a:t>C : Fast and Risky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9875520" y="6446520"/>
            <a:ext cx="182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02  /  RUST IN 2026</a:t>
            </a:r>
            <a:endParaRPr/>
          </a:p>
        </p:txBody>
      </p:sp>
      <p:sp>
        <p:nvSpPr>
          <p:cNvPr id="100" name="Google Shape;100;p14"/>
          <p:cNvSpPr/>
          <p:nvPr/>
        </p:nvSpPr>
        <p:spPr>
          <a:xfrm>
            <a:off x="758952" y="2176272"/>
            <a:ext cx="100500" cy="1005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1042415" y="2066543"/>
            <a:ext cx="10241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6F7FA"/>
                </a:solidFill>
              </a:rPr>
              <a:t>Very fast </a:t>
            </a:r>
            <a:endParaRPr/>
          </a:p>
        </p:txBody>
      </p:sp>
      <p:sp>
        <p:nvSpPr>
          <p:cNvPr id="102" name="Google Shape;102;p14"/>
          <p:cNvSpPr/>
          <p:nvPr/>
        </p:nvSpPr>
        <p:spPr>
          <a:xfrm>
            <a:off x="758952" y="3236976"/>
            <a:ext cx="100500" cy="1005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1042415" y="3127248"/>
            <a:ext cx="10241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6F7FA"/>
                </a:solidFill>
              </a:rPr>
              <a:t>Manage memory yourself </a:t>
            </a:r>
            <a:endParaRPr/>
          </a:p>
        </p:txBody>
      </p:sp>
      <p:sp>
        <p:nvSpPr>
          <p:cNvPr id="104" name="Google Shape;104;p14"/>
          <p:cNvSpPr/>
          <p:nvPr/>
        </p:nvSpPr>
        <p:spPr>
          <a:xfrm>
            <a:off x="758952" y="4315968"/>
            <a:ext cx="100500" cy="1005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1042415" y="4206240"/>
            <a:ext cx="10241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6F7FA"/>
                </a:solidFill>
              </a:rPr>
              <a:t>Mistakes causes crashes and security holes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804672" y="5760720"/>
            <a:ext cx="10058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08443"/>
                </a:solidFill>
              </a:rPr>
              <a:t>C: Speed with Manual Mmeory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5"/>
          <p:cNvSpPr/>
          <p:nvPr/>
        </p:nvSpPr>
        <p:spPr>
          <a:xfrm>
            <a:off x="411480" y="393192"/>
            <a:ext cx="73200" cy="4299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/>
          <p:nvPr/>
        </p:nvSpPr>
        <p:spPr>
          <a:xfrm>
            <a:off x="612648" y="411480"/>
            <a:ext cx="73152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 /  SOFTWARE DEVELOPMENT CURRENT EVENT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621792" y="978408"/>
            <a:ext cx="10972800" cy="4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rgbClr val="F6F7FA"/>
                </a:solidFill>
              </a:rPr>
              <a:t>Java and Python (Safe but Slower)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9875520" y="6446520"/>
            <a:ext cx="182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02  /  RUST IN 2026</a:t>
            </a:r>
            <a:endParaRPr/>
          </a:p>
        </p:txBody>
      </p:sp>
      <p:sp>
        <p:nvSpPr>
          <p:cNvPr id="116" name="Google Shape;116;p15"/>
          <p:cNvSpPr/>
          <p:nvPr/>
        </p:nvSpPr>
        <p:spPr>
          <a:xfrm>
            <a:off x="758952" y="2176272"/>
            <a:ext cx="100500" cy="1005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5"/>
          <p:cNvSpPr txBox="1"/>
          <p:nvPr/>
        </p:nvSpPr>
        <p:spPr>
          <a:xfrm>
            <a:off x="1042415" y="2066543"/>
            <a:ext cx="10241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6F7FA"/>
                </a:solidFill>
              </a:rPr>
              <a:t>Memory is cleaned up automatically</a:t>
            </a:r>
            <a:endParaRPr/>
          </a:p>
        </p:txBody>
      </p:sp>
      <p:sp>
        <p:nvSpPr>
          <p:cNvPr id="118" name="Google Shape;118;p15"/>
          <p:cNvSpPr/>
          <p:nvPr/>
        </p:nvSpPr>
        <p:spPr>
          <a:xfrm>
            <a:off x="758952" y="3236976"/>
            <a:ext cx="100500" cy="1005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5"/>
          <p:cNvSpPr txBox="1"/>
          <p:nvPr/>
        </p:nvSpPr>
        <p:spPr>
          <a:xfrm>
            <a:off x="1042415" y="3127248"/>
            <a:ext cx="10241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6F7FA"/>
                </a:solidFill>
              </a:rPr>
              <a:t>Extra </a:t>
            </a:r>
            <a:r>
              <a:rPr lang="en-US" sz="2200">
                <a:solidFill>
                  <a:srgbClr val="F6F7FA"/>
                </a:solidFill>
              </a:rPr>
              <a:t>memory usage</a:t>
            </a:r>
            <a:endParaRPr/>
          </a:p>
        </p:txBody>
      </p:sp>
      <p:sp>
        <p:nvSpPr>
          <p:cNvPr id="120" name="Google Shape;120;p15"/>
          <p:cNvSpPr/>
          <p:nvPr/>
        </p:nvSpPr>
        <p:spPr>
          <a:xfrm>
            <a:off x="758952" y="4315968"/>
            <a:ext cx="100500" cy="1005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5"/>
          <p:cNvSpPr txBox="1"/>
          <p:nvPr/>
        </p:nvSpPr>
        <p:spPr>
          <a:xfrm>
            <a:off x="1042415" y="4206240"/>
            <a:ext cx="10241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6F7FA"/>
                </a:solidFill>
              </a:rPr>
              <a:t>Sporadic pauses and slower speed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804672" y="5760720"/>
            <a:ext cx="10058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08443"/>
                </a:solidFill>
              </a:rPr>
              <a:t>Garbage Collection: </a:t>
            </a:r>
            <a:r>
              <a:rPr lang="en-US" sz="1700">
                <a:solidFill>
                  <a:srgbClr val="F08443"/>
                </a:solidFill>
              </a:rPr>
              <a:t>Safety</a:t>
            </a:r>
            <a:r>
              <a:rPr lang="en-US" sz="1700">
                <a:solidFill>
                  <a:srgbClr val="F08443"/>
                </a:solidFill>
              </a:rPr>
              <a:t> at a cost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6"/>
          <p:cNvSpPr/>
          <p:nvPr/>
        </p:nvSpPr>
        <p:spPr>
          <a:xfrm>
            <a:off x="411480" y="393192"/>
            <a:ext cx="73152" cy="429768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6"/>
          <p:cNvSpPr txBox="1"/>
          <p:nvPr/>
        </p:nvSpPr>
        <p:spPr>
          <a:xfrm>
            <a:off x="612648" y="4114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 /  SOFTWARE DEVELOPMENT CURRENT EVENT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621792" y="978408"/>
            <a:ext cx="10972800" cy="4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rgbClr val="F6F7FA"/>
                </a:solidFill>
              </a:rPr>
              <a:t>Trade Off and Rust’s Reply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9875520" y="644652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02  /  RUST IN 2026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784447" y="6063995"/>
            <a:ext cx="10058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08443"/>
                </a:solidFill>
              </a:rPr>
              <a:t>Safety</a:t>
            </a:r>
            <a:r>
              <a:rPr lang="en-US" sz="1700">
                <a:solidFill>
                  <a:srgbClr val="F08443"/>
                </a:solidFill>
              </a:rPr>
              <a:t> or Speed? Why not Both?</a:t>
            </a:r>
            <a:endParaRPr/>
          </a:p>
        </p:txBody>
      </p:sp>
      <p:pic>
        <p:nvPicPr>
          <p:cNvPr id="133" name="Google Shape;13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4700" y="1748300"/>
            <a:ext cx="7401851" cy="3712751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7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411480" y="393192"/>
            <a:ext cx="73200" cy="4299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 txBox="1"/>
          <p:nvPr/>
        </p:nvSpPr>
        <p:spPr>
          <a:xfrm>
            <a:off x="612648" y="411480"/>
            <a:ext cx="73152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 /  SOFTWARE DEVELOPMENT CURRENT EVENT</a:t>
            </a:r>
            <a:endParaRPr/>
          </a:p>
        </p:txBody>
      </p:sp>
      <p:sp>
        <p:nvSpPr>
          <p:cNvPr id="141" name="Google Shape;141;p17"/>
          <p:cNvSpPr txBox="1"/>
          <p:nvPr/>
        </p:nvSpPr>
        <p:spPr>
          <a:xfrm>
            <a:off x="621792" y="978408"/>
            <a:ext cx="10972800" cy="4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rgbClr val="F6F7FA"/>
                </a:solidFill>
              </a:rPr>
              <a:t>How Does Rust Do it?</a:t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9875520" y="6446520"/>
            <a:ext cx="182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03  /  RUST IN 2026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1051560" y="2039112"/>
            <a:ext cx="182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08443"/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2880360" y="2011680"/>
            <a:ext cx="8229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Rust support entered the Linux kernel.</a:t>
            </a:r>
            <a:endParaRPr/>
          </a:p>
        </p:txBody>
      </p:sp>
      <p:sp>
        <p:nvSpPr>
          <p:cNvPr id="145" name="Google Shape;145;p17"/>
          <p:cNvSpPr/>
          <p:nvPr/>
        </p:nvSpPr>
        <p:spPr>
          <a:xfrm>
            <a:off x="1060704" y="2926080"/>
            <a:ext cx="10058400" cy="22800"/>
          </a:xfrm>
          <a:prstGeom prst="rect">
            <a:avLst/>
          </a:prstGeom>
          <a:solidFill>
            <a:srgbClr val="BDC8D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 txBox="1"/>
          <p:nvPr/>
        </p:nvSpPr>
        <p:spPr>
          <a:xfrm>
            <a:off x="1051560" y="3328416"/>
            <a:ext cx="20118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08443"/>
                </a:solidFill>
                <a:latin typeface="Arial"/>
                <a:ea typeface="Arial"/>
                <a:cs typeface="Arial"/>
                <a:sym typeface="Arial"/>
              </a:rPr>
              <a:t>Dec 2025</a:t>
            </a:r>
            <a:endParaRPr/>
          </a:p>
        </p:txBody>
      </p:sp>
      <p:sp>
        <p:nvSpPr>
          <p:cNvPr id="147" name="Google Shape;147;p17"/>
          <p:cNvSpPr txBox="1"/>
          <p:nvPr/>
        </p:nvSpPr>
        <p:spPr>
          <a:xfrm>
            <a:off x="2880360" y="3310128"/>
            <a:ext cx="81381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Linux maintainers said Rust was no longer experimental.</a:t>
            </a:r>
            <a:endParaRPr/>
          </a:p>
        </p:txBody>
      </p:sp>
      <p:sp>
        <p:nvSpPr>
          <p:cNvPr id="148" name="Google Shape;148;p17"/>
          <p:cNvSpPr/>
          <p:nvPr/>
        </p:nvSpPr>
        <p:spPr>
          <a:xfrm>
            <a:off x="1060704" y="4343400"/>
            <a:ext cx="10058400" cy="22800"/>
          </a:xfrm>
          <a:prstGeom prst="rect">
            <a:avLst/>
          </a:prstGeom>
          <a:solidFill>
            <a:srgbClr val="BDC8D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 txBox="1"/>
          <p:nvPr/>
        </p:nvSpPr>
        <p:spPr>
          <a:xfrm>
            <a:off x="1051560" y="4754880"/>
            <a:ext cx="182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08443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814797" y="6102895"/>
            <a:ext cx="10058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08443"/>
                </a:solidFill>
              </a:rPr>
              <a:t>No Garbage Collector? Then What?</a:t>
            </a:r>
            <a:endParaRPr/>
          </a:p>
        </p:txBody>
      </p:sp>
      <p:pic>
        <p:nvPicPr>
          <p:cNvPr id="151" name="Google Shape;15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89474" y="1797875"/>
            <a:ext cx="10413574" cy="396285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8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8"/>
          <p:cNvSpPr/>
          <p:nvPr/>
        </p:nvSpPr>
        <p:spPr>
          <a:xfrm>
            <a:off x="411480" y="393192"/>
            <a:ext cx="73200" cy="4299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8"/>
          <p:cNvSpPr txBox="1"/>
          <p:nvPr/>
        </p:nvSpPr>
        <p:spPr>
          <a:xfrm>
            <a:off x="612648" y="411480"/>
            <a:ext cx="73152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 /  SOFTWARE DEVELOPMENT CURRENT EVENT</a:t>
            </a:r>
            <a:endParaRPr/>
          </a:p>
        </p:txBody>
      </p:sp>
      <p:sp>
        <p:nvSpPr>
          <p:cNvPr id="159" name="Google Shape;159;p18"/>
          <p:cNvSpPr txBox="1"/>
          <p:nvPr/>
        </p:nvSpPr>
        <p:spPr>
          <a:xfrm>
            <a:off x="621792" y="978408"/>
            <a:ext cx="10972800" cy="4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rgbClr val="F6F7FA"/>
                </a:solidFill>
              </a:rPr>
              <a:t>Why Memory </a:t>
            </a:r>
            <a:r>
              <a:rPr b="1" lang="en-US" sz="3100">
                <a:solidFill>
                  <a:srgbClr val="F6F7FA"/>
                </a:solidFill>
              </a:rPr>
              <a:t>Safety</a:t>
            </a:r>
            <a:r>
              <a:rPr b="1" lang="en-US" sz="3100">
                <a:solidFill>
                  <a:srgbClr val="F6F7FA"/>
                </a:solidFill>
              </a:rPr>
              <a:t> Matters</a:t>
            </a:r>
            <a:endParaRPr/>
          </a:p>
        </p:txBody>
      </p:sp>
      <p:sp>
        <p:nvSpPr>
          <p:cNvPr id="160" name="Google Shape;160;p18"/>
          <p:cNvSpPr txBox="1"/>
          <p:nvPr/>
        </p:nvSpPr>
        <p:spPr>
          <a:xfrm>
            <a:off x="9875520" y="6446520"/>
            <a:ext cx="182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02  /  RUST IN 2026</a:t>
            </a:r>
            <a:endParaRPr/>
          </a:p>
        </p:txBody>
      </p:sp>
      <p:sp>
        <p:nvSpPr>
          <p:cNvPr id="161" name="Google Shape;161;p18"/>
          <p:cNvSpPr/>
          <p:nvPr/>
        </p:nvSpPr>
        <p:spPr>
          <a:xfrm>
            <a:off x="758952" y="2176272"/>
            <a:ext cx="100500" cy="1005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8"/>
          <p:cNvSpPr txBox="1"/>
          <p:nvPr/>
        </p:nvSpPr>
        <p:spPr>
          <a:xfrm>
            <a:off x="1042415" y="2057181"/>
            <a:ext cx="10241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6F7FA"/>
                </a:solidFill>
              </a:rPr>
              <a:t>A program should only touch memory its allowed to.</a:t>
            </a:r>
            <a:endParaRPr/>
          </a:p>
        </p:txBody>
      </p:sp>
      <p:sp>
        <p:nvSpPr>
          <p:cNvPr id="163" name="Google Shape;163;p18"/>
          <p:cNvSpPr txBox="1"/>
          <p:nvPr/>
        </p:nvSpPr>
        <p:spPr>
          <a:xfrm>
            <a:off x="758947" y="5922470"/>
            <a:ext cx="10058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08443"/>
                </a:solidFill>
              </a:rPr>
              <a:t>“Memory-</a:t>
            </a:r>
            <a:r>
              <a:rPr lang="en-US" sz="1700">
                <a:solidFill>
                  <a:srgbClr val="F08443"/>
                </a:solidFill>
              </a:rPr>
              <a:t>safety</a:t>
            </a:r>
            <a:r>
              <a:rPr lang="en-US" sz="1700">
                <a:solidFill>
                  <a:srgbClr val="F08443"/>
                </a:solidFill>
              </a:rPr>
              <a:t> bugs causes most security vulnerabilities (CVEs)” (Roy, 2024)</a:t>
            </a:r>
            <a:endParaRPr/>
          </a:p>
        </p:txBody>
      </p:sp>
      <p:sp>
        <p:nvSpPr>
          <p:cNvPr id="164" name="Google Shape;164;p18"/>
          <p:cNvSpPr txBox="1"/>
          <p:nvPr/>
        </p:nvSpPr>
        <p:spPr>
          <a:xfrm>
            <a:off x="859440" y="1587093"/>
            <a:ext cx="10241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2200">
                <a:solidFill>
                  <a:srgbClr val="F6F7FA"/>
                </a:solidFill>
              </a:rPr>
              <a:t>What Happens When Memory </a:t>
            </a:r>
            <a:r>
              <a:rPr i="1" lang="en-US" sz="2200">
                <a:solidFill>
                  <a:srgbClr val="F6F7FA"/>
                </a:solidFill>
              </a:rPr>
              <a:t>Safety</a:t>
            </a:r>
            <a:r>
              <a:rPr i="1" lang="en-US" sz="2200">
                <a:solidFill>
                  <a:srgbClr val="F6F7FA"/>
                </a:solidFill>
              </a:rPr>
              <a:t> Breaks</a:t>
            </a:r>
            <a:endParaRPr i="1"/>
          </a:p>
        </p:txBody>
      </p:sp>
      <p:pic>
        <p:nvPicPr>
          <p:cNvPr id="165" name="Google Shape;16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8611" y="2626048"/>
            <a:ext cx="6810540" cy="2904499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9"/>
          <p:cNvSpPr/>
          <p:nvPr/>
        </p:nvSpPr>
        <p:spPr>
          <a:xfrm>
            <a:off x="411480" y="393192"/>
            <a:ext cx="73200" cy="4299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9"/>
          <p:cNvSpPr txBox="1"/>
          <p:nvPr/>
        </p:nvSpPr>
        <p:spPr>
          <a:xfrm>
            <a:off x="612648" y="411480"/>
            <a:ext cx="73152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 /  SOFTWARE DEVELOPMENT CURRENT EVENT</a:t>
            </a:r>
            <a:endParaRPr/>
          </a:p>
        </p:txBody>
      </p:sp>
      <p:sp>
        <p:nvSpPr>
          <p:cNvPr id="173" name="Google Shape;173;p19"/>
          <p:cNvSpPr txBox="1"/>
          <p:nvPr/>
        </p:nvSpPr>
        <p:spPr>
          <a:xfrm>
            <a:off x="621792" y="978408"/>
            <a:ext cx="10972800" cy="4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rgbClr val="F6F7FA"/>
                </a:solidFill>
              </a:rPr>
              <a:t>Ownership: 3 Simple Rules</a:t>
            </a:r>
            <a:endParaRPr/>
          </a:p>
        </p:txBody>
      </p:sp>
      <p:sp>
        <p:nvSpPr>
          <p:cNvPr id="174" name="Google Shape;174;p19"/>
          <p:cNvSpPr txBox="1"/>
          <p:nvPr/>
        </p:nvSpPr>
        <p:spPr>
          <a:xfrm>
            <a:off x="9875520" y="6446520"/>
            <a:ext cx="182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03  /  RUST IN 2026</a:t>
            </a:r>
            <a:endParaRPr/>
          </a:p>
        </p:txBody>
      </p:sp>
      <p:sp>
        <p:nvSpPr>
          <p:cNvPr id="175" name="Google Shape;175;p19"/>
          <p:cNvSpPr txBox="1"/>
          <p:nvPr/>
        </p:nvSpPr>
        <p:spPr>
          <a:xfrm>
            <a:off x="1051560" y="2039112"/>
            <a:ext cx="182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F08443"/>
                </a:solidFill>
              </a:rPr>
              <a:t>1.</a:t>
            </a:r>
            <a:endParaRPr/>
          </a:p>
        </p:txBody>
      </p:sp>
      <p:sp>
        <p:nvSpPr>
          <p:cNvPr id="176" name="Google Shape;176;p19"/>
          <p:cNvSpPr txBox="1"/>
          <p:nvPr/>
        </p:nvSpPr>
        <p:spPr>
          <a:xfrm>
            <a:off x="2880360" y="2011680"/>
            <a:ext cx="8229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F6F7FA"/>
                </a:solidFill>
              </a:rPr>
              <a:t>Every value has an </a:t>
            </a:r>
            <a:r>
              <a:rPr b="1" lang="en-US" sz="2100">
                <a:solidFill>
                  <a:srgbClr val="F6F7FA"/>
                </a:solidFill>
              </a:rPr>
              <a:t>owner</a:t>
            </a:r>
            <a:endParaRPr/>
          </a:p>
        </p:txBody>
      </p:sp>
      <p:sp>
        <p:nvSpPr>
          <p:cNvPr id="177" name="Google Shape;177;p19"/>
          <p:cNvSpPr/>
          <p:nvPr/>
        </p:nvSpPr>
        <p:spPr>
          <a:xfrm>
            <a:off x="1060704" y="2926080"/>
            <a:ext cx="10058400" cy="22800"/>
          </a:xfrm>
          <a:prstGeom prst="rect">
            <a:avLst/>
          </a:prstGeom>
          <a:solidFill>
            <a:srgbClr val="BDC8D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9"/>
          <p:cNvSpPr txBox="1"/>
          <p:nvPr/>
        </p:nvSpPr>
        <p:spPr>
          <a:xfrm>
            <a:off x="1051560" y="3328416"/>
            <a:ext cx="20118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00">
                <a:solidFill>
                  <a:srgbClr val="F08443"/>
                </a:solidFill>
              </a:rPr>
              <a:t>2.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2880360" y="3310128"/>
            <a:ext cx="81381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F6F7FA"/>
                </a:solidFill>
              </a:rPr>
              <a:t>Only </a:t>
            </a:r>
            <a:r>
              <a:rPr b="1" lang="en-US" sz="2100">
                <a:solidFill>
                  <a:srgbClr val="F6F7FA"/>
                </a:solidFill>
              </a:rPr>
              <a:t>one owner</a:t>
            </a:r>
            <a:r>
              <a:rPr lang="en-US" sz="2100">
                <a:solidFill>
                  <a:srgbClr val="F6F7FA"/>
                </a:solidFill>
              </a:rPr>
              <a:t> at a time</a:t>
            </a:r>
            <a:endParaRPr/>
          </a:p>
        </p:txBody>
      </p:sp>
      <p:sp>
        <p:nvSpPr>
          <p:cNvPr id="180" name="Google Shape;180;p19"/>
          <p:cNvSpPr/>
          <p:nvPr/>
        </p:nvSpPr>
        <p:spPr>
          <a:xfrm>
            <a:off x="1060704" y="4343400"/>
            <a:ext cx="10058400" cy="22800"/>
          </a:xfrm>
          <a:prstGeom prst="rect">
            <a:avLst/>
          </a:prstGeom>
          <a:solidFill>
            <a:srgbClr val="BDC8D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9"/>
          <p:cNvSpPr txBox="1"/>
          <p:nvPr/>
        </p:nvSpPr>
        <p:spPr>
          <a:xfrm>
            <a:off x="1051560" y="4754880"/>
            <a:ext cx="182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F08443"/>
                </a:solidFill>
              </a:rPr>
              <a:t>3.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2880360" y="4736592"/>
            <a:ext cx="8229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F6F7FA"/>
                </a:solidFill>
              </a:rPr>
              <a:t>When the owner goes </a:t>
            </a:r>
            <a:r>
              <a:rPr b="1" lang="en-US" sz="2100">
                <a:solidFill>
                  <a:srgbClr val="F6F7FA"/>
                </a:solidFill>
              </a:rPr>
              <a:t>out of scope</a:t>
            </a:r>
            <a:r>
              <a:rPr lang="en-US" sz="2100">
                <a:solidFill>
                  <a:srgbClr val="F6F7FA"/>
                </a:solidFill>
              </a:rPr>
              <a:t>, memory is freed automatically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0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0"/>
          <p:cNvSpPr/>
          <p:nvPr/>
        </p:nvSpPr>
        <p:spPr>
          <a:xfrm>
            <a:off x="411480" y="393192"/>
            <a:ext cx="73200" cy="4299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0"/>
          <p:cNvSpPr txBox="1"/>
          <p:nvPr/>
        </p:nvSpPr>
        <p:spPr>
          <a:xfrm>
            <a:off x="612648" y="411480"/>
            <a:ext cx="73152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 /  SOFTWARE DEVELOPMENT CURRENT EVENT</a:t>
            </a:r>
            <a:endParaRPr/>
          </a:p>
        </p:txBody>
      </p:sp>
      <p:sp>
        <p:nvSpPr>
          <p:cNvPr id="190" name="Google Shape;190;p20"/>
          <p:cNvSpPr txBox="1"/>
          <p:nvPr/>
        </p:nvSpPr>
        <p:spPr>
          <a:xfrm>
            <a:off x="621792" y="978408"/>
            <a:ext cx="10972800" cy="4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rgbClr val="F6F7FA"/>
                </a:solidFill>
              </a:rPr>
              <a:t>The Borrow Checker</a:t>
            </a:r>
            <a:endParaRPr/>
          </a:p>
        </p:txBody>
      </p:sp>
      <p:sp>
        <p:nvSpPr>
          <p:cNvPr id="191" name="Google Shape;191;p20"/>
          <p:cNvSpPr txBox="1"/>
          <p:nvPr/>
        </p:nvSpPr>
        <p:spPr>
          <a:xfrm>
            <a:off x="9875520" y="6446520"/>
            <a:ext cx="182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04  /  RUST IN 2026</a:t>
            </a:r>
            <a:endParaRPr/>
          </a:p>
        </p:txBody>
      </p:sp>
      <p:sp>
        <p:nvSpPr>
          <p:cNvPr id="192" name="Google Shape;192;p20"/>
          <p:cNvSpPr txBox="1"/>
          <p:nvPr/>
        </p:nvSpPr>
        <p:spPr>
          <a:xfrm>
            <a:off x="1123290" y="2412181"/>
            <a:ext cx="10241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rgbClr val="F6F7FA"/>
                </a:solidFill>
              </a:rPr>
              <a:t>Borrowing and use data without owning it </a:t>
            </a:r>
            <a:endParaRPr sz="1600"/>
          </a:p>
        </p:txBody>
      </p:sp>
      <p:sp>
        <p:nvSpPr>
          <p:cNvPr id="193" name="Google Shape;193;p20"/>
          <p:cNvSpPr/>
          <p:nvPr/>
        </p:nvSpPr>
        <p:spPr>
          <a:xfrm flipH="1" rot="10800000">
            <a:off x="849400" y="2250476"/>
            <a:ext cx="49800" cy="6774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0"/>
          <p:cNvSpPr txBox="1"/>
          <p:nvPr/>
        </p:nvSpPr>
        <p:spPr>
          <a:xfrm>
            <a:off x="1042415" y="4177893"/>
            <a:ext cx="10241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rgbClr val="F6F7FA"/>
                </a:solidFill>
              </a:rPr>
              <a:t>Checked </a:t>
            </a:r>
            <a:r>
              <a:rPr lang="en-US" sz="2300">
                <a:solidFill>
                  <a:srgbClr val="F6F7FA"/>
                </a:solidFill>
              </a:rPr>
              <a:t>before</a:t>
            </a:r>
            <a:r>
              <a:rPr lang="en-US" sz="2300">
                <a:solidFill>
                  <a:srgbClr val="F6F7FA"/>
                </a:solidFill>
              </a:rPr>
              <a:t> the program runs, not during it.</a:t>
            </a:r>
            <a:endParaRPr sz="1600"/>
          </a:p>
        </p:txBody>
      </p:sp>
      <p:sp>
        <p:nvSpPr>
          <p:cNvPr id="195" name="Google Shape;195;p20"/>
          <p:cNvSpPr/>
          <p:nvPr/>
        </p:nvSpPr>
        <p:spPr>
          <a:xfrm flipH="1" rot="10800000">
            <a:off x="849400" y="4016201"/>
            <a:ext cx="49800" cy="6774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1"/>
          <p:cNvSpPr/>
          <p:nvPr/>
        </p:nvSpPr>
        <p:spPr>
          <a:xfrm>
            <a:off x="411480" y="393192"/>
            <a:ext cx="73152" cy="429768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1"/>
          <p:cNvSpPr txBox="1"/>
          <p:nvPr/>
        </p:nvSpPr>
        <p:spPr>
          <a:xfrm>
            <a:off x="612648" y="4114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 /  SOFTWARE DEVELOPMENT CURRENT EVENT</a:t>
            </a:r>
            <a:endParaRPr/>
          </a:p>
        </p:txBody>
      </p:sp>
      <p:sp>
        <p:nvSpPr>
          <p:cNvPr id="203" name="Google Shape;203;p21"/>
          <p:cNvSpPr txBox="1"/>
          <p:nvPr/>
        </p:nvSpPr>
        <p:spPr>
          <a:xfrm>
            <a:off x="621792" y="978408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Rust and the Linux kernel</a:t>
            </a:r>
            <a:endParaRPr/>
          </a:p>
        </p:txBody>
      </p:sp>
      <p:sp>
        <p:nvSpPr>
          <p:cNvPr id="204" name="Google Shape;204;p21"/>
          <p:cNvSpPr txBox="1"/>
          <p:nvPr/>
        </p:nvSpPr>
        <p:spPr>
          <a:xfrm>
            <a:off x="9875520" y="644652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03  /  RUST IN 2026</a:t>
            </a:r>
            <a:endParaRPr/>
          </a:p>
        </p:txBody>
      </p:sp>
      <p:sp>
        <p:nvSpPr>
          <p:cNvPr id="205" name="Google Shape;205;p21"/>
          <p:cNvSpPr txBox="1"/>
          <p:nvPr/>
        </p:nvSpPr>
        <p:spPr>
          <a:xfrm>
            <a:off x="1051560" y="2039112"/>
            <a:ext cx="1828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08443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/>
          </a:p>
        </p:txBody>
      </p:sp>
      <p:sp>
        <p:nvSpPr>
          <p:cNvPr id="206" name="Google Shape;206;p21"/>
          <p:cNvSpPr txBox="1"/>
          <p:nvPr/>
        </p:nvSpPr>
        <p:spPr>
          <a:xfrm>
            <a:off x="2880360" y="2011680"/>
            <a:ext cx="822960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Rust support entered the Linux kernel.</a:t>
            </a:r>
            <a:endParaRPr/>
          </a:p>
        </p:txBody>
      </p:sp>
      <p:sp>
        <p:nvSpPr>
          <p:cNvPr id="207" name="Google Shape;207;p21"/>
          <p:cNvSpPr/>
          <p:nvPr/>
        </p:nvSpPr>
        <p:spPr>
          <a:xfrm>
            <a:off x="1060704" y="2926080"/>
            <a:ext cx="10058400" cy="22860"/>
          </a:xfrm>
          <a:prstGeom prst="rect">
            <a:avLst/>
          </a:prstGeom>
          <a:solidFill>
            <a:srgbClr val="BDC8D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1"/>
          <p:cNvSpPr txBox="1"/>
          <p:nvPr/>
        </p:nvSpPr>
        <p:spPr>
          <a:xfrm>
            <a:off x="1051560" y="3328416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08443"/>
                </a:solidFill>
                <a:latin typeface="Arial"/>
                <a:ea typeface="Arial"/>
                <a:cs typeface="Arial"/>
                <a:sym typeface="Arial"/>
              </a:rPr>
              <a:t>Dec 2025</a:t>
            </a:r>
            <a:endParaRPr/>
          </a:p>
        </p:txBody>
      </p:sp>
      <p:sp>
        <p:nvSpPr>
          <p:cNvPr id="209" name="Google Shape;209;p21"/>
          <p:cNvSpPr txBox="1"/>
          <p:nvPr/>
        </p:nvSpPr>
        <p:spPr>
          <a:xfrm>
            <a:off x="2880360" y="3310128"/>
            <a:ext cx="81381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Linux maintainers said Rust was no longer experimental.</a:t>
            </a:r>
            <a:endParaRPr/>
          </a:p>
        </p:txBody>
      </p:sp>
      <p:sp>
        <p:nvSpPr>
          <p:cNvPr id="210" name="Google Shape;210;p21"/>
          <p:cNvSpPr/>
          <p:nvPr/>
        </p:nvSpPr>
        <p:spPr>
          <a:xfrm>
            <a:off x="1060704" y="4343400"/>
            <a:ext cx="10058400" cy="22860"/>
          </a:xfrm>
          <a:prstGeom prst="rect">
            <a:avLst/>
          </a:prstGeom>
          <a:solidFill>
            <a:srgbClr val="BDC8D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1"/>
          <p:cNvSpPr txBox="1"/>
          <p:nvPr/>
        </p:nvSpPr>
        <p:spPr>
          <a:xfrm>
            <a:off x="1051560" y="4754880"/>
            <a:ext cx="1828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08443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/>
          </a:p>
        </p:txBody>
      </p:sp>
      <p:sp>
        <p:nvSpPr>
          <p:cNvPr id="212" name="Google Shape;212;p21"/>
          <p:cNvSpPr txBox="1"/>
          <p:nvPr/>
        </p:nvSpPr>
        <p:spPr>
          <a:xfrm>
            <a:off x="2880360" y="4736592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More Rust work continues alongside C.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2"/>
          <p:cNvSpPr/>
          <p:nvPr/>
        </p:nvSpPr>
        <p:spPr>
          <a:xfrm>
            <a:off x="411480" y="393192"/>
            <a:ext cx="73152" cy="429768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2"/>
          <p:cNvSpPr txBox="1"/>
          <p:nvPr/>
        </p:nvSpPr>
        <p:spPr>
          <a:xfrm>
            <a:off x="612648" y="4114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 /  SOFTWARE DEVELOPMENT CURRENT EVENT</a:t>
            </a:r>
            <a:endParaRPr/>
          </a:p>
        </p:txBody>
      </p:sp>
      <p:sp>
        <p:nvSpPr>
          <p:cNvPr id="220" name="Google Shape;220;p22"/>
          <p:cNvSpPr txBox="1"/>
          <p:nvPr/>
        </p:nvSpPr>
        <p:spPr>
          <a:xfrm>
            <a:off x="621792" y="978408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Why does memory safety matter?</a:t>
            </a:r>
            <a:endParaRPr/>
          </a:p>
        </p:txBody>
      </p:sp>
      <p:sp>
        <p:nvSpPr>
          <p:cNvPr id="221" name="Google Shape;221;p22"/>
          <p:cNvSpPr txBox="1"/>
          <p:nvPr/>
        </p:nvSpPr>
        <p:spPr>
          <a:xfrm>
            <a:off x="9875520" y="644652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04  /  RUST IN 2026</a:t>
            </a:r>
            <a:endParaRPr/>
          </a:p>
        </p:txBody>
      </p:sp>
      <p:sp>
        <p:nvSpPr>
          <p:cNvPr id="222" name="Google Shape;222;p22"/>
          <p:cNvSpPr/>
          <p:nvPr/>
        </p:nvSpPr>
        <p:spPr>
          <a:xfrm>
            <a:off x="758952" y="2157984"/>
            <a:ext cx="100584" cy="100584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2"/>
          <p:cNvSpPr txBox="1"/>
          <p:nvPr/>
        </p:nvSpPr>
        <p:spPr>
          <a:xfrm>
            <a:off x="1042415" y="2048256"/>
            <a:ext cx="102412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Memory mistakes can cause crashes and security problems</a:t>
            </a:r>
            <a:endParaRPr/>
          </a:p>
        </p:txBody>
      </p:sp>
      <p:sp>
        <p:nvSpPr>
          <p:cNvPr id="224" name="Google Shape;224;p22"/>
          <p:cNvSpPr/>
          <p:nvPr/>
        </p:nvSpPr>
        <p:spPr>
          <a:xfrm>
            <a:off x="758952" y="3264408"/>
            <a:ext cx="100584" cy="100584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2"/>
          <p:cNvSpPr txBox="1"/>
          <p:nvPr/>
        </p:nvSpPr>
        <p:spPr>
          <a:xfrm>
            <a:off x="1042415" y="3154680"/>
            <a:ext cx="102412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Rust checks ownership and borrowing while code is compiled</a:t>
            </a:r>
            <a:endParaRPr/>
          </a:p>
        </p:txBody>
      </p:sp>
      <p:sp>
        <p:nvSpPr>
          <p:cNvPr id="226" name="Google Shape;226;p22"/>
          <p:cNvSpPr/>
          <p:nvPr/>
        </p:nvSpPr>
        <p:spPr>
          <a:xfrm>
            <a:off x="758952" y="4407408"/>
            <a:ext cx="100584" cy="100584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2"/>
          <p:cNvSpPr txBox="1"/>
          <p:nvPr/>
        </p:nvSpPr>
        <p:spPr>
          <a:xfrm>
            <a:off x="1042415" y="4297680"/>
            <a:ext cx="102412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This helps catch some bugs before the program runs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3"/>
          <p:cNvSpPr/>
          <p:nvPr/>
        </p:nvSpPr>
        <p:spPr>
          <a:xfrm>
            <a:off x="411480" y="393192"/>
            <a:ext cx="73152" cy="429768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3"/>
          <p:cNvSpPr txBox="1"/>
          <p:nvPr/>
        </p:nvSpPr>
        <p:spPr>
          <a:xfrm>
            <a:off x="612648" y="4114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 /  SOFTWARE DEVELOPMENT CURRENT EVENT</a:t>
            </a:r>
            <a:endParaRPr/>
          </a:p>
        </p:txBody>
      </p:sp>
      <p:sp>
        <p:nvSpPr>
          <p:cNvPr id="235" name="Google Shape;235;p23"/>
          <p:cNvSpPr txBox="1"/>
          <p:nvPr/>
        </p:nvSpPr>
        <p:spPr>
          <a:xfrm>
            <a:off x="621792" y="978408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Where is Rust being used?</a:t>
            </a:r>
            <a:endParaRPr/>
          </a:p>
        </p:txBody>
      </p:sp>
      <p:sp>
        <p:nvSpPr>
          <p:cNvPr id="236" name="Google Shape;236;p23"/>
          <p:cNvSpPr txBox="1"/>
          <p:nvPr/>
        </p:nvSpPr>
        <p:spPr>
          <a:xfrm>
            <a:off x="9875520" y="644652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05  /  RUST IN 2026</a:t>
            </a:r>
            <a:endParaRPr/>
          </a:p>
        </p:txBody>
      </p:sp>
      <p:sp>
        <p:nvSpPr>
          <p:cNvPr id="237" name="Google Shape;237;p23"/>
          <p:cNvSpPr/>
          <p:nvPr/>
        </p:nvSpPr>
        <p:spPr>
          <a:xfrm>
            <a:off x="749808" y="1938528"/>
            <a:ext cx="2514600" cy="731520"/>
          </a:xfrm>
          <a:prstGeom prst="rect">
            <a:avLst/>
          </a:prstGeom>
          <a:solidFill>
            <a:srgbClr val="1D2B3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3"/>
          <p:cNvSpPr txBox="1"/>
          <p:nvPr/>
        </p:nvSpPr>
        <p:spPr>
          <a:xfrm>
            <a:off x="950976" y="2093976"/>
            <a:ext cx="2194560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08443"/>
                </a:solidFill>
                <a:latin typeface="Arial"/>
                <a:ea typeface="Arial"/>
                <a:cs typeface="Arial"/>
                <a:sym typeface="Arial"/>
              </a:rPr>
              <a:t>Linux</a:t>
            </a:r>
            <a:endParaRPr/>
          </a:p>
        </p:txBody>
      </p:sp>
      <p:sp>
        <p:nvSpPr>
          <p:cNvPr id="239" name="Google Shape;239;p23"/>
          <p:cNvSpPr txBox="1"/>
          <p:nvPr/>
        </p:nvSpPr>
        <p:spPr>
          <a:xfrm>
            <a:off x="3547872" y="2057400"/>
            <a:ext cx="7863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Developers can write some kernel components in Rust.</a:t>
            </a:r>
            <a:endParaRPr/>
          </a:p>
        </p:txBody>
      </p:sp>
      <p:sp>
        <p:nvSpPr>
          <p:cNvPr id="240" name="Google Shape;240;p23"/>
          <p:cNvSpPr/>
          <p:nvPr/>
        </p:nvSpPr>
        <p:spPr>
          <a:xfrm>
            <a:off x="749808" y="2962656"/>
            <a:ext cx="2514600" cy="731520"/>
          </a:xfrm>
          <a:prstGeom prst="rect">
            <a:avLst/>
          </a:prstGeom>
          <a:solidFill>
            <a:srgbClr val="1D2B3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3"/>
          <p:cNvSpPr txBox="1"/>
          <p:nvPr/>
        </p:nvSpPr>
        <p:spPr>
          <a:xfrm>
            <a:off x="950976" y="3118104"/>
            <a:ext cx="2194560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08443"/>
                </a:solidFill>
                <a:latin typeface="Arial"/>
                <a:ea typeface="Arial"/>
                <a:cs typeface="Arial"/>
                <a:sym typeface="Arial"/>
              </a:rPr>
              <a:t>Google / Android</a:t>
            </a:r>
            <a:endParaRPr/>
          </a:p>
        </p:txBody>
      </p:sp>
      <p:sp>
        <p:nvSpPr>
          <p:cNvPr id="242" name="Google Shape;242;p23"/>
          <p:cNvSpPr txBox="1"/>
          <p:nvPr/>
        </p:nvSpPr>
        <p:spPr>
          <a:xfrm>
            <a:off x="3547872" y="3081528"/>
            <a:ext cx="7863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Rust is used in security-sensitive Android code.</a:t>
            </a:r>
            <a:endParaRPr/>
          </a:p>
        </p:txBody>
      </p:sp>
      <p:sp>
        <p:nvSpPr>
          <p:cNvPr id="243" name="Google Shape;243;p23"/>
          <p:cNvSpPr/>
          <p:nvPr/>
        </p:nvSpPr>
        <p:spPr>
          <a:xfrm>
            <a:off x="749808" y="3986784"/>
            <a:ext cx="2514600" cy="731520"/>
          </a:xfrm>
          <a:prstGeom prst="rect">
            <a:avLst/>
          </a:prstGeom>
          <a:solidFill>
            <a:srgbClr val="1D2B3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3"/>
          <p:cNvSpPr txBox="1"/>
          <p:nvPr/>
        </p:nvSpPr>
        <p:spPr>
          <a:xfrm>
            <a:off x="950976" y="4142232"/>
            <a:ext cx="2194560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08443"/>
                </a:solidFill>
                <a:latin typeface="Arial"/>
                <a:ea typeface="Arial"/>
                <a:cs typeface="Arial"/>
                <a:sym typeface="Arial"/>
              </a:rPr>
              <a:t>Microsoft</a:t>
            </a:r>
            <a:endParaRPr/>
          </a:p>
        </p:txBody>
      </p:sp>
      <p:sp>
        <p:nvSpPr>
          <p:cNvPr id="245" name="Google Shape;245;p23"/>
          <p:cNvSpPr txBox="1"/>
          <p:nvPr/>
        </p:nvSpPr>
        <p:spPr>
          <a:xfrm>
            <a:off x="3547872" y="4105656"/>
            <a:ext cx="7863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Rust is being explored and used in some systems work.</a:t>
            </a:r>
            <a:endParaRPr/>
          </a:p>
        </p:txBody>
      </p:sp>
      <p:sp>
        <p:nvSpPr>
          <p:cNvPr id="246" name="Google Shape;246;p23"/>
          <p:cNvSpPr/>
          <p:nvPr/>
        </p:nvSpPr>
        <p:spPr>
          <a:xfrm>
            <a:off x="749808" y="5010912"/>
            <a:ext cx="2514600" cy="731520"/>
          </a:xfrm>
          <a:prstGeom prst="rect">
            <a:avLst/>
          </a:prstGeom>
          <a:solidFill>
            <a:srgbClr val="1D2B3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3"/>
          <p:cNvSpPr txBox="1"/>
          <p:nvPr/>
        </p:nvSpPr>
        <p:spPr>
          <a:xfrm>
            <a:off x="950976" y="5166360"/>
            <a:ext cx="2194560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08443"/>
                </a:solidFill>
                <a:latin typeface="Arial"/>
                <a:ea typeface="Arial"/>
                <a:cs typeface="Arial"/>
                <a:sym typeface="Arial"/>
              </a:rPr>
              <a:t>AWS</a:t>
            </a:r>
            <a:endParaRPr/>
          </a:p>
        </p:txBody>
      </p:sp>
      <p:sp>
        <p:nvSpPr>
          <p:cNvPr id="248" name="Google Shape;248;p23"/>
          <p:cNvSpPr txBox="1"/>
          <p:nvPr/>
        </p:nvSpPr>
        <p:spPr>
          <a:xfrm>
            <a:off x="3547872" y="5129784"/>
            <a:ext cx="7863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Rust powers projects such as Firecracker.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4"/>
          <p:cNvSpPr/>
          <p:nvPr/>
        </p:nvSpPr>
        <p:spPr>
          <a:xfrm>
            <a:off x="411480" y="393192"/>
            <a:ext cx="73152" cy="429768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4"/>
          <p:cNvSpPr txBox="1"/>
          <p:nvPr/>
        </p:nvSpPr>
        <p:spPr>
          <a:xfrm>
            <a:off x="612648" y="4114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 /  SOFTWARE DEVELOPMENT CURRENT EVENT</a:t>
            </a:r>
            <a:endParaRPr/>
          </a:p>
        </p:txBody>
      </p:sp>
      <p:sp>
        <p:nvSpPr>
          <p:cNvPr id="256" name="Google Shape;256;p24"/>
          <p:cNvSpPr txBox="1"/>
          <p:nvPr/>
        </p:nvSpPr>
        <p:spPr>
          <a:xfrm>
            <a:off x="621792" y="978408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Challenges and final thoughts</a:t>
            </a:r>
            <a:endParaRPr/>
          </a:p>
        </p:txBody>
      </p:sp>
      <p:sp>
        <p:nvSpPr>
          <p:cNvPr id="257" name="Google Shape;257;p24"/>
          <p:cNvSpPr txBox="1"/>
          <p:nvPr/>
        </p:nvSpPr>
        <p:spPr>
          <a:xfrm>
            <a:off x="9875520" y="644652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06  /  RUST IN 2026</a:t>
            </a:r>
            <a:endParaRPr/>
          </a:p>
        </p:txBody>
      </p:sp>
      <p:sp>
        <p:nvSpPr>
          <p:cNvPr id="258" name="Google Shape;258;p24"/>
          <p:cNvSpPr/>
          <p:nvPr/>
        </p:nvSpPr>
        <p:spPr>
          <a:xfrm>
            <a:off x="758952" y="2103120"/>
            <a:ext cx="100584" cy="100584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4"/>
          <p:cNvSpPr txBox="1"/>
          <p:nvPr/>
        </p:nvSpPr>
        <p:spPr>
          <a:xfrm>
            <a:off x="1042415" y="1993392"/>
            <a:ext cx="102412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Rust can be difficult to learn, especially ownership rules</a:t>
            </a:r>
            <a:endParaRPr/>
          </a:p>
        </p:txBody>
      </p:sp>
      <p:sp>
        <p:nvSpPr>
          <p:cNvPr id="260" name="Google Shape;260;p24"/>
          <p:cNvSpPr/>
          <p:nvPr/>
        </p:nvSpPr>
        <p:spPr>
          <a:xfrm>
            <a:off x="758952" y="3072384"/>
            <a:ext cx="100584" cy="100584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4"/>
          <p:cNvSpPr txBox="1"/>
          <p:nvPr/>
        </p:nvSpPr>
        <p:spPr>
          <a:xfrm>
            <a:off x="1042415" y="2962656"/>
            <a:ext cx="102412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Compiler checks can make development feel slower at first</a:t>
            </a:r>
            <a:endParaRPr/>
          </a:p>
        </p:txBody>
      </p:sp>
      <p:sp>
        <p:nvSpPr>
          <p:cNvPr id="262" name="Google Shape;262;p24"/>
          <p:cNvSpPr/>
          <p:nvPr/>
        </p:nvSpPr>
        <p:spPr>
          <a:xfrm>
            <a:off x="758952" y="4050791"/>
            <a:ext cx="100584" cy="100584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4"/>
          <p:cNvSpPr txBox="1"/>
          <p:nvPr/>
        </p:nvSpPr>
        <p:spPr>
          <a:xfrm>
            <a:off x="1042415" y="3941063"/>
            <a:ext cx="102412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It will not replace every C or C++ program</a:t>
            </a:r>
            <a:endParaRPr/>
          </a:p>
        </p:txBody>
      </p:sp>
      <p:sp>
        <p:nvSpPr>
          <p:cNvPr id="264" name="Google Shape;264;p24"/>
          <p:cNvSpPr/>
          <p:nvPr/>
        </p:nvSpPr>
        <p:spPr>
          <a:xfrm>
            <a:off x="749808" y="5074920"/>
            <a:ext cx="10698480" cy="868680"/>
          </a:xfrm>
          <a:prstGeom prst="rect">
            <a:avLst/>
          </a:prstGeom>
          <a:solidFill>
            <a:srgbClr val="1D2B3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4"/>
          <p:cNvSpPr txBox="1"/>
          <p:nvPr/>
        </p:nvSpPr>
        <p:spPr>
          <a:xfrm>
            <a:off x="1005840" y="5330952"/>
            <a:ext cx="10241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Rust is becoming a serious option for safer systems software.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